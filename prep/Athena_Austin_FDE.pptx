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(30 sec):</a:t>
            </a:r>
          </a:p>
          <a:p>
            <a:r>
              <a:t>"Good [morning/afternoon]. I'm here to talk about deploying Athena at Austin Building 1 — diagnosis of what went wrong at the previous five sites, my 4-week plan, and the two features I'd prototype during the deployment.</a:t>
            </a:r>
          </a:p>
          <a:p/>
          <a:p>
            <a:r>
              <a:t>I built this on the thesis that the prior deployments are the best available benchmark: same platform, same app teams, different outcomes. If I can understand that variance, I can design a plan that biases toward the best outcomes."</a:t>
            </a:r>
          </a:p>
          <a:p/>
          <a:p>
            <a:r>
              <a:t>Click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(30 sec):</a:t>
            </a:r>
          </a:p>
          <a:p>
            <a:r>
              <a:t>"The challenge gave me three questions. I'll walk through what the data shows for each, then land on a 4-week Austin plan."</a:t>
            </a:r>
          </a:p>
          <a:p/>
          <a:p>
            <a:r>
              <a:t>Don't linger. Click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(2 min):</a:t>
            </a:r>
          </a:p>
          <a:p>
            <a:r>
              <a:t>"Start here — five prior Athena deployments, target was 4 weeks each time. Actuals range from 3.5 at Shanghai to 6.5 at Berlin. Two out of five hit the target.</a:t>
            </a:r>
          </a:p>
          <a:p/>
          <a:p>
            <a:r>
              <a:t>What matters is the SPREAD. The platform is the same. The engineers are the same. But outcomes vary by 2x. That tells me there's a deployment PROCESS variable — sequencing, stakeholder engagement, integration strategy — that I can control.</a:t>
            </a:r>
          </a:p>
          <a:p/>
          <a:p>
            <a:r>
              <a:t>So the question stops being 'is Athena ready' and becomes 'what is Shanghai doing right, and what broke at Berlin?' The rest of my presentation answers that."</a:t>
            </a:r>
          </a:p>
          <a:p/>
          <a:p>
            <a:r>
              <a:t>Don't call Berlin a failure. "Over target" is the right phrase. Several panelists may have run Berlin.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(2 min):</a:t>
            </a:r>
          </a:p>
          <a:p>
            <a:r>
              <a:t>"Drilling into Berlin — the worst site — 19 of the total delay-days happened here, almost $192K in disruption cost. Eight distinct blocking events.</a:t>
            </a:r>
          </a:p>
          <a:p/>
          <a:p>
            <a:r>
              <a:t>The top three blockers I'd call out: GDPR audit flagged change-tracking logs four days in; SAP budget codes didn't match Athena's Area/System IDs — five-day block; Primavera milestone sync — five-day block, and Nevada hit the same issue, so this is a pattern.</a:t>
            </a:r>
          </a:p>
          <a:p/>
          <a:p>
            <a:r>
              <a:t>The takeaway for Austin: integration and compliance drove the longest tails, NOT Athena app bugs. The mitigation is to front-load both of those in week 1 — SAP reconciliation on Tuesday, Primavera sync on Wednesday, Compliance kickoff Monday with F. Mueller. I'll show the week 1 plan shortly."</a:t>
            </a:r>
          </a:p>
          <a:p/>
          <a:p>
            <a:r>
              <a:t>If asked: "how do you know it wasn't the app" — because the issue records show integration failures (SAP codes, Primavera sync) and regulatory pushback (GDPR, GC audit), not defects in Athena core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(2.5 min):</a:t>
            </a:r>
          </a:p>
          <a:p>
            <a:r>
              <a:t>"I tagged every feedback item across all five sites into themes. Four bubble up.</a:t>
            </a:r>
          </a:p>
          <a:p/>
          <a:p>
            <a:r>
              <a:t>The #1 theme is change-management — the clicks, the workflow, the approval chain. Quote from the data: 'change management workflow is unclear — takes 10-plus clicks to adjust scope hours.' That appears at every site.</a:t>
            </a:r>
          </a:p>
          <a:p/>
          <a:p>
            <a:r>
              <a:t>#2 is Tekton-Athena sync — especially offline mode in the field. Mexico, Texas, Berlin all had blockers here.</a:t>
            </a:r>
          </a:p>
          <a:p/>
          <a:p>
            <a:r>
              <a:t>#3 and #4 tie — milestones / scheduling and reporting / variance rollups.</a:t>
            </a:r>
          </a:p>
          <a:p/>
          <a:p>
            <a:r>
              <a:t>The important line: every one of these shows up at 4 of 5 sites or more. That means this is not a Berlin problem or a Mexico problem. These are platform gaps. The FDE role isn't to fix the platform — it's to deploy around them and feed the backlog with concrete prototypes, which I'll get to.</a:t>
            </a:r>
          </a:p>
          <a:p/>
          <a:p>
            <a:r>
              <a:t>Red text at the bottom: 22 of 38 feedback items have no status recorded. Most of the 'unresolved high-priority' items were hiding in the untriaged pile. That's a process failure — nobody owns the triage. The fix for Austin: FDE owns weekly triage of the feedback log, mandatory status field."</a:t>
            </a:r>
          </a:p>
          <a:p/>
          <a:p>
            <a:r>
              <a:t>Common follow-up: "How did you tag themes?" — keyword matching against the pain_point field plus manual spot-check. Not perfect, but the top four are clear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(1 min):</a:t>
            </a:r>
          </a:p>
          <a:p>
            <a:r>
              <a:t>"Adoption metric I care about: blocked users over time. Users who can't do their job because of a config, permission, or training gap.</a:t>
            </a:r>
          </a:p>
          <a:p/>
          <a:p>
            <a:r>
              <a:t>Shanghai and Mexico drop to zero by week 3. Berlin is still at 14% blocked at week 3 and doesn't reach zero until week 6.</a:t>
            </a:r>
          </a:p>
          <a:p/>
          <a:p>
            <a:r>
              <a:t>Why the difference? Three things I'd copy from Shanghai:</a:t>
            </a:r>
          </a:p>
          <a:p>
            <a:r>
              <a:t>  - Ship a real, tactical feature during deployment — builds trust fast.</a:t>
            </a:r>
          </a:p>
          <a:p>
            <a:r>
              <a:t>  - Small training cohorts (40 to 50 users max) with hands-on practice.</a:t>
            </a:r>
          </a:p>
          <a:p>
            <a:r>
              <a:t>  - Named internal champion in week 1 — someone who's used Athena before.</a:t>
            </a:r>
          </a:p>
          <a:p/>
          <a:p>
            <a:r>
              <a:t>Austin has the ideal candidate: P. Kumar, senior PM with deep Athena knowledge from a prior site. I'll pair him with skeptical teams in week 1."</a:t>
            </a:r>
          </a:p>
          <a:p/>
          <a:p>
            <a:r>
              <a:t>If asked: "why did Berlin have more blocks?" — the data doesn't tell me precisely, but the event log shows SAP + GDPR blockers in week 2 that cascaded into permissions issues. My inference: fix the integrations first and the adoption friction drops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(1.5 min):</a:t>
            </a:r>
          </a:p>
          <a:p>
            <a:r>
              <a:t>"Switching from diagnosis to what I'd walk into at Austin.</a:t>
            </a:r>
          </a:p>
          <a:p/>
          <a:p>
            <a:r>
              <a:t>Four numbers from the estimate and technical survey:</a:t>
            </a:r>
          </a:p>
          <a:p>
            <a:r>
              <a:t>- 36 scopes across 4 Areas/Systems in Building 1, roughly 2,800 tasks. That's the breakout I'd load into Athena day one.</a:t>
            </a:r>
          </a:p>
          <a:p>
            <a:r>
              <a:t>- 85 Tekton field users, 420 task-hour entries per day. Non-trivial throughput.</a:t>
            </a:r>
          </a:p>
          <a:p>
            <a:r>
              <a:t>- 7 external parties needing scope access: five contractors and two design partners. Every one of them needs RBAC configured before they can log in.</a:t>
            </a:r>
          </a:p>
          <a:p>
            <a:r>
              <a:t>- 10% API fluency. 25% PM software. That's the training gap — hands-on, not docs.</a:t>
            </a:r>
          </a:p>
          <a:p/>
          <a:p>
            <a:r>
              <a:t>Biggest Day-1 risk bar none: zones C and D have 2 to 3 hours of offline time per day per the tech survey. Tekton offline mode has been prototyped for 50 tasks; we need it to work for hundreds. That's one of my two prototype picks — I'll get there."</a:t>
            </a:r>
          </a:p>
          <a:p/>
          <a:p>
            <a:r>
              <a:t>If asked: "where does the 2,800 task number come from?" — technical survey, page of notes from R. Patel on Oct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(3.5 min — the core slide):</a:t>
            </a:r>
          </a:p>
          <a:p>
            <a:r>
              <a:t>"This is the plan. Four weeks, one exit criteria per week.</a:t>
            </a:r>
          </a:p>
          <a:p/>
          <a:p>
            <a:r>
              <a:t>Week 1 is integration-heavy because Berlin told me that's where the longest tails are. Primavera and SAP wired and tested in staging by Friday. Estimate loaded — and I mean CLEAN, I'll show the defects I'd fix in a moment. All seven external parties provisioned. Compliance kickoff Monday — not week 4 — F. Mueller gets briefed early.</a:t>
            </a:r>
          </a:p>
          <a:p/>
          <a:p>
            <a:r>
              <a:t>Week 2 is the pilot. One Area/System, probably Electrical because it has the most scopes so we learn fast. P. Kumar pair-instructs with the pilot team. Tekton field trial in zone C — the worst offline zone — in PRODUCTION, not staging. Friday defect retro. If anything's still on fire going into the weekend, I'd rather know.</a:t>
            </a:r>
          </a:p>
          <a:p/>
          <a:p>
            <a:r>
              <a:t>Week 3 is full rollout. Three remaining Areas/Systems in parallel. 45-minute hands-on training cohorts, 40 to 50 users each, Shanghai-style. This is when I ship the first prototype — 1-click change approval for scopes under $5K — which is a back-port of a prototype that already worked at Texas. And we hit the first weekly report to R. Lopez on Thursday.</a:t>
            </a:r>
          </a:p>
          <a:p/>
          <a:p>
            <a:r>
              <a:t>Week 4 is audit week. Audit dry-run Monday with F. Mueller so we catch anything before the real audit Wednesday. Second prototype ships: hardened Tekton offline mode. Handoff playbook Friday.</a:t>
            </a:r>
          </a:p>
          <a:p/>
          <a:p>
            <a:r>
              <a:t>One thing I want to flag: K. Abrams owns milestone approvals and he's traveling Wednesday through Friday of sprint 2 — I'd pre-approve any sprint 2 milestones Monday and delegate to S. Chen. D. Nakamura is oncall in sprint 3, so the Thursday summary is hard-locked, no mid-week asks. And the audit in sprint 4 is known — I plan around it, not into it."</a:t>
            </a:r>
          </a:p>
          <a:p/>
          <a:p>
            <a:r>
              <a:t>Have Plan B ready: "if only 2 weeks, drop full training, go pair-instruct with Kumar, skip pilot, ship only prototype 1, flag trade-off to R. Lopez upfront."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(1.5 min):</a:t>
            </a:r>
          </a:p>
          <a:p>
            <a:r>
              <a:t>"Two features I'd prototype during the deployment, not separately.</a:t>
            </a:r>
          </a:p>
          <a:p/>
          <a:p>
            <a:r>
              <a:t>One: 1-click change approval for scopes under 5K dollars. Texas already prototyped this and it works. We'd forward-port. This directly hits my #1 pain theme — change-management clicks — and clips the vast majority of approval volume without touching the bigger-change flow. 2 to 3 day build.</a:t>
            </a:r>
          </a:p>
          <a:p/>
          <a:p>
            <a:r>
              <a:t>Two: Tekton offline mode with batch auto-queue. The Texas prototype works for 50 tasks. We need it for 500-plus because Austin has 85 field users averaging 420 entries a day in zones with known offline exposure. Berlin lost 8 hours of field data to this exact issue. 4 to 5 day build.</a:t>
            </a:r>
          </a:p>
          <a:p/>
          <a:p>
            <a:r>
              <a:t>What I'm explicitly NOT doing: photo upload integration — 8-week project, can't fit it. Cost forecasting dashboard — needs a data scientist and historical burn-rate data we don't have. Full RBAC overhaul — 4-week project, touches auth. All three are legitimate but they're week 8-plus work. I'd add them to the post-go-live backlog with explicit next-FDE ownership."</a:t>
            </a:r>
          </a:p>
          <a:p/>
          <a:p>
            <a:r>
              <a:t>Common follow-up: "could you ship these faster?" — yes, I could ship only one and compress. Trade-off is we hit zero-offline in zone C on day one without the batch queue hardening, which means lost data. Not worth it unless we're genuinely two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(1 min):</a:t>
            </a:r>
          </a:p>
          <a:p>
            <a:r>
              <a:t>"The challenge hint says 'the Athena project breakout is defined by a provided estimate.' So this file IS the structure.</a:t>
            </a:r>
          </a:p>
          <a:p/>
          <a:p>
            <a:r>
              <a:t>I ran a defect scan. 41 cells, 6 defect types, in only 36 scope rows. One row is missing its Project field. One row has no Area/System — that scope would orphan on import. And labor/material/rental costs are a mess of dollar signs, commas, and 'k' or 'M' suffixes — 39 cells across those columns.</a:t>
            </a:r>
          </a:p>
          <a:p/>
          <a:p>
            <a:r>
              <a:t>If we load this unchanged, one of two things happens: the numeric parser crashes, or worse, it silently miscategorizes.</a:t>
            </a:r>
          </a:p>
          <a:p/>
          <a:p>
            <a:r>
              <a:t>The fix: 30 minutes with the Estimating team before kickoff. Lock the format, re-export, validate. Then we're clean."</a:t>
            </a:r>
          </a:p>
          <a:p/>
          <a:p>
            <a:r>
              <a:t>If asked: "is this blocking?" — yes for the malformed cost columns; a defensive parser might save us but you wouldn't want to discover a numeric format bug during a live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(1 min):</a:t>
            </a:r>
          </a:p>
          <a:p>
            <a:r>
              <a:t>"Engagement model — four touchpoints I'd lock in day one.</a:t>
            </a:r>
          </a:p>
          <a:p/>
          <a:p>
            <a:r>
              <a:t>Daily 9am standup — it's already mandatory per the contact sheet, I'd just make sure FDE shows up every day. That's the blast radius for status issues.</a:t>
            </a:r>
          </a:p>
          <a:p/>
          <a:p>
            <a:r>
              <a:t>Weekly Thursday report to R. Lopez, Project Controls Lead — she specifically asked for it. She's also the one who'll push on my composite risk score, so that weekly cadence is how trust gets built.</a:t>
            </a:r>
          </a:p>
          <a:p/>
          <a:p>
            <a:r>
              <a:t>F. Mueller, Compliance — brought in WEEK 1, not week 4. Berlin hit the GDPR wall because Compliance wasn't briefed on change-tracking requirements until it was too late.</a:t>
            </a:r>
          </a:p>
          <a:p/>
          <a:p>
            <a:r>
              <a:t>P. Kumar is my internal champion. Senior PM, deep Athena knowledge from a prior site, happy to help other teams. He's paired with skeptical teams in week 1.</a:t>
            </a:r>
          </a:p>
          <a:p/>
          <a:p>
            <a:r>
              <a:t>External partners — weekly sync. Their change-request SLA is 2 weeks. I can't move faster than them so I plan for that latency."</a:t>
            </a:r>
          </a:p>
          <a:p/>
          <a:p>
            <a:r>
              <a:t>Common question: "what if R. Lopez pushes back on the plan?" — invite her to the Monday kickoff; the plan has her check-ins baked in; treat her as co-owner.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(30 sec):</a:t>
            </a:r>
          </a:p>
          <a:p>
            <a:r>
              <a:t>"To recap — three commitments.</a:t>
            </a:r>
          </a:p>
          <a:p/>
          <a:p>
            <a:r>
              <a:t>One: deploy Austin in four weeks. Shanghai's 3.5 is the benchmark, not the ceiling. If I beat Shanghai, great. If I hit four, that's the target.</a:t>
            </a:r>
          </a:p>
          <a:p/>
          <a:p>
            <a:r>
              <a:t>Two: ship two prototypes during the deployment — 1-click change approval and hardened Tekton offline. Both validated by prior sites. Low risk.</a:t>
            </a:r>
          </a:p>
          <a:p/>
          <a:p>
            <a:r>
              <a:t>Three: I exit with a playbook. So the next FDE inherits a process, not a recovery.</a:t>
            </a:r>
          </a:p>
          <a:p/>
          <a:p>
            <a:r>
              <a:t>Happy to dig into any of this."</a:t>
            </a:r>
          </a:p>
          <a:p/>
          <a:p>
            <a:r>
              <a:t>Then STOP. Let them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530352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CONFIDENTIAL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743200"/>
            <a:ext cx="91440" cy="146304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>
                <a:solidFill>
                  <a:srgbClr val="F5F5F5"/>
                </a:solidFill>
                <a:latin typeface="Helvetica Neue"/>
              </a:rPr>
              <a:t>Athena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3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>
                <a:solidFill>
                  <a:srgbClr val="9C9C9C"/>
                </a:solidFill>
                <a:latin typeface="Helvetica Neue"/>
              </a:rPr>
              <a:t>Austin · Building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B6B6B"/>
                </a:solidFill>
                <a:latin typeface="Helvetica Neue"/>
              </a:rPr>
              <a:t>FORWARD DEPLOY ENGINEER · TECHNICAL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263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Diagnosis · Plan · Prototypes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263640"/>
            <a:ext cx="52852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9C9C9C"/>
                </a:solidFill>
                <a:latin typeface="Helvetica Neue"/>
              </a:rPr>
              <a:t>15–20 min · Q&amp;A 10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FRAMING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Helvetica Neue"/>
              </a:rPr>
              <a:t>Three questions to answer.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60320"/>
            <a:ext cx="3566160" cy="3474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560320"/>
            <a:ext cx="356616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926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14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Helvetica Neue"/>
              </a:rPr>
              <a:t>What went wrong
at previous sites?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2560320"/>
            <a:ext cx="3566160" cy="3474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560320"/>
            <a:ext cx="356616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926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114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Helvetica Neue"/>
              </a:rPr>
              <a:t>Where are the user
and operational pain points?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2560320"/>
            <a:ext cx="3566160" cy="3474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66760" y="2560320"/>
            <a:ext cx="356616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292608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114800"/>
            <a:ext cx="310896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Helvetica Neue"/>
              </a:rPr>
              <a:t>How do we deploy
Austin successfully?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WHAT WENT WRONG · DEPLOYMENT VELOCITY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Same platform. 2× spread in time to go-live.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Target: 4 weeks. Actuals across 5 prior deployments.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26480" y="2560320"/>
            <a:ext cx="0" cy="2971800"/>
          </a:xfrm>
          <a:prstGeom prst="line">
            <a:avLst/>
          </a:prstGeom>
          <a:ln w="12700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69280" y="224028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Target 4 wks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0604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Shanghai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0" y="2560320"/>
            <a:ext cx="3360420" cy="36576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7860" y="258775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Helvetica Neue"/>
              </a:rPr>
              <a:t>3.5 wk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Mexico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154680"/>
            <a:ext cx="3840480" cy="365760"/>
          </a:xfrm>
          <a:prstGeom prst="rect">
            <a:avLst/>
          </a:prstGeom>
          <a:solidFill>
            <a:srgbClr val="9C9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31821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Helvetica Neue"/>
              </a:rPr>
              <a:t>4.0 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7947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Nevada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3749040"/>
            <a:ext cx="4800600" cy="365760"/>
          </a:xfrm>
          <a:prstGeom prst="rect">
            <a:avLst/>
          </a:prstGeom>
          <a:solidFill>
            <a:srgbClr val="8E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77647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Helvetica Neue"/>
              </a:rPr>
              <a:t>5.0 wk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3891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Texas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4343400"/>
            <a:ext cx="4800600" cy="365760"/>
          </a:xfrm>
          <a:prstGeom prst="rect">
            <a:avLst/>
          </a:prstGeom>
          <a:solidFill>
            <a:srgbClr val="8E0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437083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Helvetica Neue"/>
              </a:rPr>
              <a:t>5.0 wk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8348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Berlin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0" y="4937760"/>
            <a:ext cx="6240780" cy="36576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8220" y="496519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F5F5F5"/>
                </a:solidFill>
                <a:latin typeface="Helvetica Neue"/>
              </a:rPr>
              <a:t>6.5 wk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18320" y="2560320"/>
            <a:ext cx="2194560" cy="1188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418320" y="2560320"/>
            <a:ext cx="2194560" cy="4572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5480" y="2651760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9C9C"/>
                </a:solidFill>
                <a:latin typeface="Helvetica Neue"/>
              </a:rPr>
              <a:t>WORST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292608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31937"/>
                </a:solidFill>
                <a:latin typeface="Helvetica Neue"/>
              </a:rPr>
              <a:t>Berlin +62.5%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55480" y="3337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6.5 wks vs 4 target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18320" y="3886200"/>
            <a:ext cx="2194560" cy="118872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18320" y="3886200"/>
            <a:ext cx="2194560" cy="45720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3977639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9C9C9C"/>
                </a:solidFill>
                <a:latin typeface="Helvetica Neue"/>
              </a:rPr>
              <a:t>BEST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5480" y="425196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7FB069"/>
                </a:solidFill>
                <a:latin typeface="Helvetica Neue"/>
              </a:rPr>
              <a:t>Shanghai −12.5%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55480" y="4663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3.5 wks ahead of plan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" y="5577840"/>
            <a:ext cx="10515600" cy="6400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66928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Same platform. Same 14 engineers. The deployment process is the variable.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WHAT WENT WRONG · WHERE THE TIME WENT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Berlin: 19 delay-days. $192K disruption.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Integration and compliance — not app bugs — drove the overrun.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51760"/>
            <a:ext cx="35204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54864" cy="237744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9C9C"/>
                </a:solidFill>
                <a:latin typeface="Helvetica Neue"/>
              </a:rPr>
              <a:t>GDPR 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4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160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Compliance wasn't engaged early; change-tracking audit logs flagged.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2651760"/>
            <a:ext cx="35204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0" y="2651760"/>
            <a:ext cx="54864" cy="237744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9C9C"/>
                </a:solidFill>
                <a:latin typeface="Helvetica Neue"/>
              </a:rPr>
              <a:t>SAP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5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160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Budget codes didn't reconcile with Athena Area/System IDs.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2651760"/>
            <a:ext cx="35204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66760" y="2651760"/>
            <a:ext cx="54864" cy="237744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9C9C9C"/>
                </a:solidFill>
                <a:latin typeface="Helvetica Neue"/>
              </a:rPr>
              <a:t>PRIMAVERA SYNC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33756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E31937"/>
                </a:solidFill>
                <a:latin typeface="Helvetica Neue"/>
              </a:rPr>
              <a:t>5 days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160520"/>
            <a:ext cx="30175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Legacy schedule milestones incompatible with Athena milestones.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504688"/>
            <a:ext cx="10332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Takeaway: integration + compliance have the longest tails. Front-load both in week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USER PAIN · CROSS-SITE THEMES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Pain is platform-wide, not site-specific.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38 feedback items across 5 sites. Every top theme appears at ≥4 of them.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10515600" cy="6858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97480"/>
            <a:ext cx="54864" cy="6858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8803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1937"/>
                </a:solidFill>
                <a:latin typeface="Helvetica Neu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288036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Helvetica Neue"/>
              </a:rPr>
              <a:t>Change-management clicks &amp;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88036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5F5F5"/>
                </a:solidFill>
                <a:latin typeface="Helvetica Neue"/>
              </a:rPr>
              <a:t>8  mentions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0" y="28986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C9C9C"/>
                </a:solidFill>
                <a:latin typeface="Helvetica Neue"/>
              </a:rPr>
              <a:t>5 high-pri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474720"/>
            <a:ext cx="10515600" cy="685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3474720"/>
            <a:ext cx="54864" cy="6858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6576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1937"/>
                </a:solidFill>
                <a:latin typeface="Helvetica Neue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6576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Helvetica Neue"/>
              </a:rPr>
              <a:t>Tekton ↔ Athena sync (esp. offline)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65760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5F5F5"/>
                </a:solidFill>
                <a:latin typeface="Helvetica Neue"/>
              </a:rPr>
              <a:t>8  mentions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367588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C9C9C"/>
                </a:solidFill>
                <a:latin typeface="Helvetica Neue"/>
              </a:rPr>
              <a:t>4 high-pri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251960"/>
            <a:ext cx="10515600" cy="6858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4251960"/>
            <a:ext cx="54864" cy="6858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4348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1937"/>
                </a:solidFill>
                <a:latin typeface="Helvetica Neue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44348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Helvetica Neue"/>
              </a:rPr>
              <a:t>Milestones &amp; scheduling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43484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5F5F5"/>
                </a:solidFill>
                <a:latin typeface="Helvetica Neue"/>
              </a:rPr>
              <a:t>7  mentions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0" y="44531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C9C9C"/>
                </a:solidFill>
                <a:latin typeface="Helvetica Neue"/>
              </a:rPr>
              <a:t>3 high-pri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5029200"/>
            <a:ext cx="10515600" cy="6858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5029200"/>
            <a:ext cx="54864" cy="6858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1208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31937"/>
                </a:solidFill>
                <a:latin typeface="Helvetica Neue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21208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F5F5F5"/>
                </a:solidFill>
                <a:latin typeface="Helvetica Neue"/>
              </a:rPr>
              <a:t>Reporting, variance, rollups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21208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0">
                <a:solidFill>
                  <a:srgbClr val="F5F5F5"/>
                </a:solidFill>
                <a:latin typeface="Helvetica Neue"/>
              </a:rPr>
              <a:t>7  mentions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52303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0">
                <a:solidFill>
                  <a:srgbClr val="9C9C9C"/>
                </a:solidFill>
                <a:latin typeface="Helvetica Neue"/>
              </a:rPr>
              <a:t>2 high-pri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22 of 38 feedback items have no status recorded — triage itself is broken.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ADOPTION FRICTION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Shanghai &amp; Mexico hit zero blocked users by week 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Berlin was still blocking 14% of trained users at week 3.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51760"/>
            <a:ext cx="5257800" cy="32004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5257800" cy="54864"/>
          </a:xfrm>
          <a:prstGeom prst="rect">
            <a:avLst/>
          </a:prstGeom>
          <a:solidFill>
            <a:srgbClr val="7FB0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C9C9C"/>
                </a:solidFill>
                <a:latin typeface="Helvetica Neue"/>
              </a:rPr>
              <a:t>WHAT SHANGHAI / MEXICO DID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5F5F5"/>
                </a:solidFill>
                <a:latin typeface="Helvetica Neue"/>
              </a:rPr>
              <a:t>Fast adoption ramp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84048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Shipped a real feature in week 2 (Shanghai: change-order baseline · 2-day build)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Small training cohorts (40–50 users)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6634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Week 1 internal advocate (prior-site PM)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0749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Tactical wins during deploy built trust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651760"/>
            <a:ext cx="5074920" cy="32004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651760"/>
            <a:ext cx="507492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788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C9C9C"/>
                </a:solidFill>
                <a:latin typeface="Helvetica Neue"/>
              </a:rPr>
              <a:t>WHAT BERLIN DID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10896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31937"/>
                </a:solidFill>
                <a:latin typeface="Helvetica Neue"/>
              </a:rPr>
              <a:t>Sticky adoption friction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8404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22 users blocked week 1 (vs 10 at Shanghai)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2519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Compliance engaged late (week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66344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Larger training cohorts, less hands-on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0749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Integration issues compounded user blocks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5989320"/>
            <a:ext cx="10515600" cy="32004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5F5F5"/>
                </a:solidFill>
                <a:latin typeface="Helvetica Neue"/>
              </a:rPr>
              <a:t>Austin plan borrows from Shanghai: internal champion, small cohorts, week-3 prototype 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AUSTIN · SITUATION BRIEF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What we're deploying into.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Building 1 · from the estimate and technical survey.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51760"/>
            <a:ext cx="26060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260604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0175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5F5F5"/>
                </a:solidFill>
                <a:latin typeface="Helvetica Neue"/>
              </a:rPr>
              <a:t>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Helvetica Neue"/>
              </a:rPr>
              <a:t>scopes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348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across 4 Areas/Systems · ~2,800 tasks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93592" y="2651760"/>
            <a:ext cx="26060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93592" y="2651760"/>
            <a:ext cx="260604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67912" y="30175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5F5F5"/>
                </a:solidFill>
                <a:latin typeface="Helvetica Neue"/>
              </a:rPr>
              <a:t>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Helvetica Neue"/>
              </a:rPr>
              <a:t>Tekton 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67912" y="44348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420 task-hour entries per 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9944" y="2651760"/>
            <a:ext cx="26060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9944" y="2651760"/>
            <a:ext cx="260604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84264" y="30175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5F5F5"/>
                </a:solidFill>
                <a:latin typeface="Helvetica Neue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84264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Helvetica Neue"/>
              </a:rPr>
              <a:t>external parties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84264" y="44348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5 contractors + 2 design partners · RBAC day 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26296" y="2651760"/>
            <a:ext cx="260604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26296" y="2651760"/>
            <a:ext cx="260604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0616" y="3017520"/>
            <a:ext cx="2331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>
                <a:solidFill>
                  <a:srgbClr val="F5F5F5"/>
                </a:solidFill>
                <a:latin typeface="Helvetica Neue"/>
              </a:rPr>
              <a:t>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0616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31937"/>
                </a:solidFill>
                <a:latin typeface="Helvetica Neue"/>
              </a:rPr>
              <a:t>API-fluent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6" y="4434840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25% PM-software · 60% Primavera · 40% SAP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303520"/>
            <a:ext cx="10515600" cy="8686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303520"/>
            <a:ext cx="54864" cy="86868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413248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C9C9C"/>
                </a:solidFill>
                <a:latin typeface="Helvetica Neue"/>
              </a:rPr>
              <a:t>BIGGEST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687568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F5F5F5"/>
                </a:solidFill>
                <a:latin typeface="Helvetica Neue"/>
              </a:rPr>
              <a:t>Zones C/D: 2–3 hrs offline per day. Tekton offline mode hasn't been hardened above 50 tasks.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4-WEEK PLAN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Deploy Austin in 4 weeks. Exit with a playbook.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057400"/>
            <a:ext cx="2606040" cy="38862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057400"/>
            <a:ext cx="2606040" cy="7315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3317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Helvetica Neue"/>
              </a:rPr>
              <a:t>WK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83464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Infra · integrations · data load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Primavera + SAP wired in staging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4531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Austin estimate loaded (defects fixed)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8371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RBAC for 7 external parties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2212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Compliance kickoff (F. Mueller)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93592" y="2057400"/>
            <a:ext cx="2606040" cy="38862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93592" y="2057400"/>
            <a:ext cx="2606040" cy="7315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67912" y="23317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Helvetica Neue"/>
              </a:rPr>
              <a:t>WK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67912" y="283464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Pilot team + Tekton field trial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67912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1 Area/System live (Electrical)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44531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Tekton trial in zone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67912" y="48371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P. Kumar pair-instructing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7912" y="52212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Defect retro Friday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9944" y="2057400"/>
            <a:ext cx="2606040" cy="38862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09944" y="2057400"/>
            <a:ext cx="2606040" cy="7315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4264" y="23317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Helvetica Neue"/>
              </a:rPr>
              <a:t>WK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4264" y="283464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Full rollout + prototype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4264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3 Areas/Systems go live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84264" y="44531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Ship 1-click change approval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84264" y="48371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45-min training cohorts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84264" y="52212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Weekly report to R. Lopez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26296" y="2057400"/>
            <a:ext cx="2606040" cy="388620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226296" y="2057400"/>
            <a:ext cx="2606040" cy="7315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0616" y="2331720"/>
            <a:ext cx="2331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31937"/>
                </a:solidFill>
                <a:latin typeface="Helvetica Neue"/>
              </a:rPr>
              <a:t>WK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0616" y="2834640"/>
            <a:ext cx="233172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Audit · prototype 2 · handoff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0616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Compliance audit Wednesday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0616" y="4453128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Ship hardened Tekton offline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0616" y="4837176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Playbook to next FDE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0616" y="5221224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5F5F5"/>
                </a:solidFill>
                <a:latin typeface="Helvetica Neue"/>
              </a:rPr>
              <a:t>·  Exit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6126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Stakeholder constraints built-in: K. Abrams traveling Wk2 · D. Nakamura oncall Wk3 · Audit Wk4.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PROTOTYPE PICKS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Two prototypes in weeks 3 and 4.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Both back-ported from features other sites already validated. Low risk, high leverage.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5303520" cy="338328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06040"/>
            <a:ext cx="73152" cy="338328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880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200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Helvetica Neue"/>
              </a:rPr>
              <a:t>1-click change approval  &lt;$5K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9776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9C9C"/>
                </a:solidFill>
                <a:latin typeface="Helvetica Neue"/>
              </a:rPr>
              <a:t>Back-port from Texas prototype (already working for cost changes).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Addresses #1 pain theme (change-mgmt clicks)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0017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Clips ~80% of approval volume by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3858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2–3 day build · proven pattern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2606040"/>
            <a:ext cx="5303520" cy="338328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2606040"/>
            <a:ext cx="73152" cy="338328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880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200400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5F5F5"/>
                </a:solidFill>
                <a:latin typeface="Helvetica Neue"/>
              </a:rPr>
              <a:t>Tekton offline + batch auto-queue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977640"/>
            <a:ext cx="48463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C9C9C"/>
                </a:solidFill>
                <a:latin typeface="Helvetica Neue"/>
              </a:rPr>
              <a:t>Harden the Texas prototype from 50 → 500+ tasks.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6177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Critical for zones C/D at Austin (2–3 hrs offline/day)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5001768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Berlin lost 8 hrs of entries — we will too without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5385816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5F5F5"/>
                </a:solidFill>
                <a:latin typeface="Helvetica Neue"/>
              </a:rPr>
              <a:t>·  4–5 day build · mobile + backend sync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" y="6172200"/>
            <a:ext cx="10515600" cy="27432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199632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Explicitly deferred: photo upload (8 wks), cost forecasting (needs data scientist), RBAC overhaul (4 wks).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AUSTIN · DAY-1 DATA QUALITY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Fix 41 defects before the Athena import.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Found in the Austin Estimate — the file that defines Area/System/Scope structure.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51760"/>
            <a:ext cx="4114800" cy="2377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51760"/>
            <a:ext cx="4114800" cy="54864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432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9C9C9C"/>
                </a:solidFill>
                <a:latin typeface="Helvetica Neue"/>
              </a:rPr>
              <a:t>DEFECTS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1752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00" b="1">
                <a:solidFill>
                  <a:srgbClr val="E31937"/>
                </a:solidFill>
                <a:latin typeface="Helvetica Neue"/>
              </a:rPr>
              <a:t>41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16052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F5F5F5"/>
                </a:solidFill>
                <a:latin typeface="Helvetica Neue"/>
              </a:rPr>
              <a:t>cells across 6 defect types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in 36 scope rows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2651760"/>
            <a:ext cx="5989320" cy="352044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77840" y="29260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2608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292608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3401568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Area/System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015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Missing (scope would orphan)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34015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877056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Labor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877056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Mixed $ / commas / k suffixes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24160" y="3877056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352544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Material Cost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352544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Mixed formats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60" y="435254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77840" y="4828032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Rental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4828032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Mixed formats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4828032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77840" y="530352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31937"/>
                </a:solidFill>
                <a:latin typeface="Helvetica Neue"/>
              </a:rPr>
              <a:t>Material Qty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3035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F5F5F5"/>
                </a:solidFill>
                <a:latin typeface="Helvetica Neue"/>
              </a:rPr>
              <a:t>Mixed unit formats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53035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>
                <a:solidFill>
                  <a:srgbClr val="F5F5F5"/>
                </a:solidFill>
                <a:latin typeface="Helvetica Neue"/>
              </a:rPr>
              <a:t>18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6263640"/>
            <a:ext cx="10515600" cy="18288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626364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C9C9C"/>
                </a:solidFill>
                <a:latin typeface="Helvetica Neue"/>
              </a:rPr>
              <a:t>30-min session with Estimating team · before kickoff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STAKEHOLDERS · ENGAGEMENT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>
                <a:solidFill>
                  <a:srgbClr val="F5F5F5"/>
                </a:solidFill>
                <a:latin typeface="Helvetica Neue"/>
              </a:rPr>
              <a:t>People. Cadence. Champions.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C9C9C"/>
                </a:solidFill>
                <a:latin typeface="Helvetica Neue"/>
              </a:rPr>
              <a:t>Named owners, explicit cadences, no ambiguity.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10515600" cy="62179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606040"/>
            <a:ext cx="54864" cy="62179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7889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1937"/>
                </a:solidFill>
                <a:latin typeface="Helvetica Neue"/>
              </a:rPr>
              <a:t>DAILY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7614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9am standup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7889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All project teams + FDE. Mandatory per contact sheet.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91840"/>
            <a:ext cx="10515600" cy="6217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291840"/>
            <a:ext cx="54864" cy="62179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4747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1937"/>
                </a:solidFill>
                <a:latin typeface="Helvetica Neue"/>
              </a:rPr>
              <a:t>WEEKLY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34472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Thursday report → R. Lopez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34747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Project Controls Lead. She asked for it.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3977640"/>
            <a:ext cx="10515600" cy="62179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3977640"/>
            <a:ext cx="54864" cy="62179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1605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1937"/>
                </a:solidFill>
                <a:latin typeface="Helvetica Neue"/>
              </a:rPr>
              <a:t>WEEK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41330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Compliance kickoff → F. Mueller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1605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NOT week 4. Berlin learned this the hard way.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663440"/>
            <a:ext cx="10515600" cy="621792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663440"/>
            <a:ext cx="54864" cy="62179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846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1937"/>
                </a:solidFill>
                <a:latin typeface="Helvetica Neue"/>
              </a:rPr>
              <a:t>WEEK 1+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48188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Pair with P. Kumar (internal champion)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8463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Prior-site Athena veteran; good advocate.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349240"/>
            <a:ext cx="10515600" cy="621792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" y="5349240"/>
            <a:ext cx="54864" cy="621792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5321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E31937"/>
                </a:solidFill>
                <a:latin typeface="Helvetica Neue"/>
              </a:rPr>
              <a:t>WEEKLY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504688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5F5F5"/>
                </a:solidFill>
                <a:latin typeface="Helvetica Neue"/>
              </a:rPr>
              <a:t>External partners sync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553212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C9C9C"/>
                </a:solidFill>
                <a:latin typeface="Helvetica Neue"/>
              </a:rPr>
              <a:t>5 contractors + 2 design partners. Their SLA is 2 wks.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TESLA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36576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C9C9C"/>
                </a:solidFill>
                <a:latin typeface="Helvetica Neue"/>
              </a:rPr>
              <a:t>RECAP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77724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2A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292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6B6B"/>
                </a:solidFill>
                <a:latin typeface="Helvetica Neue"/>
              </a:rPr>
              <a:t>Athena Deployment · Austin Bldg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37960"/>
            <a:ext cx="5330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6B6B6B"/>
                </a:solidFill>
                <a:latin typeface="Helvetica Neue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7592"/>
            <a:ext cx="64008" cy="45720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143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>
                <a:solidFill>
                  <a:srgbClr val="F5F5F5"/>
                </a:solidFill>
                <a:latin typeface="Helvetica Neue"/>
              </a:rPr>
              <a:t>What I'm committing 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606040"/>
            <a:ext cx="10515600" cy="105156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606040"/>
            <a:ext cx="73152" cy="105156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8892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761488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Helvetica Neue"/>
              </a:rPr>
              <a:t>Deploy in 4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20040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9C9C"/>
                </a:solidFill>
                <a:latin typeface="Helvetica Neue"/>
              </a:rPr>
              <a:t>On or under target. Shanghai is the benchmark.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3794760"/>
            <a:ext cx="10515600" cy="105156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73152" cy="105156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97764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50208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Helvetica Neue"/>
              </a:rPr>
              <a:t>Two prototypes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8912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9C9C"/>
                </a:solidFill>
                <a:latin typeface="Helvetica Neue"/>
              </a:rPr>
              <a:t>1-click change approval · hardened Tekton offline.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983480"/>
            <a:ext cx="10515600" cy="1051560"/>
          </a:xfrm>
          <a:prstGeom prst="rect">
            <a:avLst/>
          </a:prstGeom>
          <a:solidFill>
            <a:srgbClr val="1818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" y="4983480"/>
            <a:ext cx="73152" cy="1051560"/>
          </a:xfrm>
          <a:prstGeom prst="rect">
            <a:avLst/>
          </a:prstGeom>
          <a:solidFill>
            <a:srgbClr val="E31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166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E31937"/>
                </a:solidFill>
                <a:latin typeface="Helvetica Neue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138928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F5F5F5"/>
                </a:solidFill>
                <a:latin typeface="Helvetica Neue"/>
              </a:rPr>
              <a:t>Exit with a playbook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577840"/>
            <a:ext cx="9144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9C9C9C"/>
                </a:solidFill>
                <a:latin typeface="Helvetica Neue"/>
              </a:rPr>
              <a:t>So the next FDE starts ahead of where I started.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9C9C9C"/>
                </a:solidFill>
                <a:latin typeface="Helvetica Neue"/>
              </a:rPr>
              <a:t>Happy to dig into any of this.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